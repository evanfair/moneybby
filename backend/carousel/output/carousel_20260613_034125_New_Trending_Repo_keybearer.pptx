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1430000" cy="14287500"/>
  <p:notesSz cx="6858000" cy="9144000"/>
  <p:embeddedFontLst>
    <p:embeddedFont>
      <p:font typeface="TT Norms" panose="020B0604020202020204" charset="0"/>
      <p:regular r:id="rId7"/>
    </p:embeddedFont>
    <p:embeddedFont>
      <p:font typeface="TT Norms Bold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299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svg"/><Relationship Id="rId4" Type="http://schemas.openxmlformats.org/officeDocument/2006/relationships/image" Target="../media/image4.jpeg"/><Relationship Id="rId5" Type="http://schemas.openxmlformats.org/officeDocument/2006/relationships/image" Target="../media/image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svg"/><Relationship Id="rId4" Type="http://schemas.openxmlformats.org/officeDocument/2006/relationships/image" Target="../media/image5.jpeg"/><Relationship Id="rId5" Type="http://schemas.openxmlformats.org/officeDocument/2006/relationships/image" Target="../media/image3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13963" y="11433298"/>
            <a:ext cx="9144000" cy="1905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143005" y="9483827"/>
            <a:ext cx="9144000" cy="1905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143005" y="12422651"/>
            <a:ext cx="721849" cy="721849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8566" t="-5747" b="-7194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42995" y="1062698"/>
            <a:ext cx="92237" cy="351193"/>
            <a:chOff x="0" y="0"/>
            <a:chExt cx="21864" cy="8324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864" cy="83246"/>
            </a:xfrm>
            <a:custGeom>
              <a:avLst/>
              <a:gdLst/>
              <a:ahLst/>
              <a:cxnLst/>
              <a:rect l="l" t="t" r="r" b="b"/>
              <a:pathLst>
                <a:path w="21864" h="83246">
                  <a:moveTo>
                    <a:pt x="10932" y="0"/>
                  </a:moveTo>
                  <a:lnTo>
                    <a:pt x="10932" y="0"/>
                  </a:lnTo>
                  <a:cubicBezTo>
                    <a:pt x="16969" y="0"/>
                    <a:pt x="21864" y="4894"/>
                    <a:pt x="21864" y="10932"/>
                  </a:cubicBezTo>
                  <a:lnTo>
                    <a:pt x="21864" y="72314"/>
                  </a:lnTo>
                  <a:cubicBezTo>
                    <a:pt x="21864" y="75213"/>
                    <a:pt x="20712" y="77994"/>
                    <a:pt x="18662" y="80044"/>
                  </a:cubicBezTo>
                  <a:cubicBezTo>
                    <a:pt x="16612" y="82094"/>
                    <a:pt x="13831" y="83246"/>
                    <a:pt x="10932" y="83246"/>
                  </a:cubicBezTo>
                  <a:lnTo>
                    <a:pt x="10932" y="83246"/>
                  </a:lnTo>
                  <a:cubicBezTo>
                    <a:pt x="4894" y="83246"/>
                    <a:pt x="0" y="78351"/>
                    <a:pt x="0" y="72314"/>
                  </a:cubicBezTo>
                  <a:lnTo>
                    <a:pt x="0" y="10932"/>
                  </a:lnTo>
                  <a:cubicBezTo>
                    <a:pt x="0" y="8032"/>
                    <a:pt x="1152" y="5252"/>
                    <a:pt x="3202" y="3202"/>
                  </a:cubicBezTo>
                  <a:cubicBezTo>
                    <a:pt x="5252" y="1152"/>
                    <a:pt x="8032" y="0"/>
                    <a:pt x="109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B400">
                    <a:alpha val="100000"/>
                  </a:srgbClr>
                </a:gs>
                <a:gs pos="50000">
                  <a:srgbClr val="C4FF00">
                    <a:alpha val="100000"/>
                  </a:srgbClr>
                </a:gs>
                <a:gs pos="100000">
                  <a:srgbClr val="F3FFD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1864" cy="121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9" name="Freeform 9"/>
          <p:cNvSpPr/>
          <p:nvPr/>
        </p:nvSpPr>
        <p:spPr>
          <a:xfrm>
            <a:off x="9127665" y="12480520"/>
            <a:ext cx="1159330" cy="663980"/>
          </a:xfrm>
          <a:custGeom>
            <a:avLst/>
            <a:gdLst/>
            <a:ahLst/>
            <a:cxnLst/>
            <a:rect l="l" t="t" r="r" b="b"/>
            <a:pathLst>
              <a:path w="1159330" h="663980">
                <a:moveTo>
                  <a:pt x="0" y="0"/>
                </a:moveTo>
                <a:lnTo>
                  <a:pt x="1159330" y="0"/>
                </a:lnTo>
                <a:lnTo>
                  <a:pt x="1159330" y="663980"/>
                </a:lnTo>
                <a:lnTo>
                  <a:pt x="0" y="6639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1304524" y="3984536"/>
            <a:ext cx="3819926" cy="683196"/>
            <a:chOff x="0" y="0"/>
            <a:chExt cx="905464" cy="16194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05464" cy="161943"/>
            </a:xfrm>
            <a:custGeom>
              <a:avLst/>
              <a:gdLst/>
              <a:ahLst/>
              <a:cxnLst/>
              <a:rect l="l" t="t" r="r" b="b"/>
              <a:pathLst>
                <a:path w="813710" h="161943">
                  <a:moveTo>
                    <a:pt x="80971" y="0"/>
                  </a:moveTo>
                  <a:lnTo>
                    <a:pt x="732739" y="0"/>
                  </a:lnTo>
                  <a:cubicBezTo>
                    <a:pt x="777458" y="0"/>
                    <a:pt x="813710" y="36252"/>
                    <a:pt x="813710" y="80971"/>
                  </a:cubicBezTo>
                  <a:lnTo>
                    <a:pt x="813710" y="80971"/>
                  </a:lnTo>
                  <a:cubicBezTo>
                    <a:pt x="813710" y="102446"/>
                    <a:pt x="805179" y="123042"/>
                    <a:pt x="789994" y="138227"/>
                  </a:cubicBezTo>
                  <a:cubicBezTo>
                    <a:pt x="774809" y="153412"/>
                    <a:pt x="754214" y="161943"/>
                    <a:pt x="732739" y="161943"/>
                  </a:cubicBezTo>
                  <a:lnTo>
                    <a:pt x="80971" y="161943"/>
                  </a:lnTo>
                  <a:cubicBezTo>
                    <a:pt x="59496" y="161943"/>
                    <a:pt x="38901" y="153412"/>
                    <a:pt x="23716" y="138227"/>
                  </a:cubicBezTo>
                  <a:cubicBezTo>
                    <a:pt x="8531" y="123042"/>
                    <a:pt x="0" y="102446"/>
                    <a:pt x="0" y="80971"/>
                  </a:cubicBezTo>
                  <a:lnTo>
                    <a:pt x="0" y="80971"/>
                  </a:lnTo>
                  <a:cubicBezTo>
                    <a:pt x="0" y="59496"/>
                    <a:pt x="8531" y="38901"/>
                    <a:pt x="23716" y="23716"/>
                  </a:cubicBezTo>
                  <a:cubicBezTo>
                    <a:pt x="38901" y="8531"/>
                    <a:pt x="59496" y="0"/>
                    <a:pt x="8097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B400">
                    <a:alpha val="69000"/>
                  </a:srgbClr>
                </a:gs>
                <a:gs pos="50000">
                  <a:srgbClr val="C4FF00">
                    <a:alpha val="69000"/>
                  </a:srgbClr>
                </a:gs>
                <a:gs pos="100000">
                  <a:srgbClr val="F3FFD1">
                    <a:alpha val="69000"/>
                  </a:srgbClr>
                </a:gs>
              </a:gsLst>
              <a:lin ang="2700000"/>
            </a:gradFill>
          </p:spPr>
          <p:txBody>
            <a:bodyPr numCol="1" anchor="ctr"/>
            <a:lstStyle/>
            <a:p>
              <a:pPr algn="ctr"/>
              <a:r>
                <a:rPr lang="af-ZA" sz="2400" b="1" dirty="0">
                  <a:solidFill>
                    <a:schemeClr val="bg1"/>
                  </a:solidFill>
                </a:rPr>
                <a:t>What You Need To Know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813710" cy="152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52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42995" y="5015395"/>
            <a:ext cx="9134018" cy="4002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410"/>
              </a:lnSpc>
            </a:pPr>
            <a:r>
              <a:rPr lang="en-US" sz="15107" b="1" spc="-468" dirty="0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Breaking</a:t>
            </a:r>
            <a:r>
              <a:rPr lang="en-US" sz="15107" b="1" spc="-468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 News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85474" y="9889001"/>
            <a:ext cx="8859052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49"/>
              </a:lnSpc>
            </a:pPr>
            <a:r>
              <a:rPr lang="en-US" sz="2499" spc="-77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 major development is reshaping the AI landscape.</a:t>
            </a:r>
            <a:r>
              <a:rPr lang="en-US" sz="2499" b="1" spc="-77" dirty="0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Here's why it matters</a:t>
            </a:r>
            <a:r>
              <a:rPr lang="en-US" sz="2499" spc="-77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for your work and business.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028970" y="12567358"/>
            <a:ext cx="2195535" cy="441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19"/>
              </a:lnSpc>
            </a:pPr>
            <a:r>
              <a:rPr lang="en-US" sz="2999" b="1" spc="-92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Your Name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42108" y="1102088"/>
            <a:ext cx="1622808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52"/>
              </a:lnSpc>
            </a:pPr>
            <a:r>
              <a:rPr lang="en-US" sz="1800" spc="-55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AI &amp; Tech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45637" y="1102088"/>
            <a:ext cx="2338725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800" spc="-55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AI Breakdown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78316" y="1112374"/>
            <a:ext cx="2298697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52"/>
              </a:lnSpc>
            </a:pPr>
            <a:r>
              <a:rPr lang="en-US" sz="1800" spc="-55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Stay ahead of AI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56159" y="3180442"/>
            <a:ext cx="3044313" cy="321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8"/>
              </a:lnSpc>
            </a:pPr>
            <a:r>
              <a:rPr lang="en-US" sz="2200" b="1" spc="-68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What You Need To Know</a:t>
            </a:r>
          </a:p>
        </p:txBody>
      </p:sp>
      <p:sp>
        <p:nvSpPr>
          <p:cNvPr id="23" name="Freeform 23"/>
          <p:cNvSpPr/>
          <p:nvPr/>
        </p:nvSpPr>
        <p:spPr>
          <a:xfrm>
            <a:off x="8993310" y="7307221"/>
            <a:ext cx="1283703" cy="1225353"/>
          </a:xfrm>
          <a:custGeom>
            <a:avLst/>
            <a:gdLst/>
            <a:ahLst/>
            <a:cxnLst/>
            <a:rect l="l" t="t" r="r" b="b"/>
            <a:pathLst>
              <a:path w="1283703" h="1225353">
                <a:moveTo>
                  <a:pt x="0" y="0"/>
                </a:moveTo>
                <a:lnTo>
                  <a:pt x="1283703" y="0"/>
                </a:lnTo>
                <a:lnTo>
                  <a:pt x="1283703" y="1225353"/>
                </a:lnTo>
                <a:lnTo>
                  <a:pt x="0" y="12253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5" y="12422651"/>
            <a:ext cx="721849" cy="72184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8566" t="-5747" b="-7194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42995" y="1062698"/>
            <a:ext cx="92237" cy="351193"/>
            <a:chOff x="0" y="0"/>
            <a:chExt cx="21864" cy="832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864" cy="83246"/>
            </a:xfrm>
            <a:custGeom>
              <a:avLst/>
              <a:gdLst/>
              <a:ahLst/>
              <a:cxnLst/>
              <a:rect l="l" t="t" r="r" b="b"/>
              <a:pathLst>
                <a:path w="21864" h="83246">
                  <a:moveTo>
                    <a:pt x="10932" y="0"/>
                  </a:moveTo>
                  <a:lnTo>
                    <a:pt x="10932" y="0"/>
                  </a:lnTo>
                  <a:cubicBezTo>
                    <a:pt x="16969" y="0"/>
                    <a:pt x="21864" y="4894"/>
                    <a:pt x="21864" y="10932"/>
                  </a:cubicBezTo>
                  <a:lnTo>
                    <a:pt x="21864" y="72314"/>
                  </a:lnTo>
                  <a:cubicBezTo>
                    <a:pt x="21864" y="75213"/>
                    <a:pt x="20712" y="77994"/>
                    <a:pt x="18662" y="80044"/>
                  </a:cubicBezTo>
                  <a:cubicBezTo>
                    <a:pt x="16612" y="82094"/>
                    <a:pt x="13831" y="83246"/>
                    <a:pt x="10932" y="83246"/>
                  </a:cubicBezTo>
                  <a:lnTo>
                    <a:pt x="10932" y="83246"/>
                  </a:lnTo>
                  <a:cubicBezTo>
                    <a:pt x="4894" y="83246"/>
                    <a:pt x="0" y="78351"/>
                    <a:pt x="0" y="72314"/>
                  </a:cubicBezTo>
                  <a:lnTo>
                    <a:pt x="0" y="10932"/>
                  </a:lnTo>
                  <a:cubicBezTo>
                    <a:pt x="0" y="8032"/>
                    <a:pt x="1152" y="5252"/>
                    <a:pt x="3202" y="3202"/>
                  </a:cubicBezTo>
                  <a:cubicBezTo>
                    <a:pt x="5252" y="1152"/>
                    <a:pt x="8032" y="0"/>
                    <a:pt x="109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B400">
                    <a:alpha val="100000"/>
                  </a:srgbClr>
                </a:gs>
                <a:gs pos="50000">
                  <a:srgbClr val="C4FF00">
                    <a:alpha val="100000"/>
                  </a:srgbClr>
                </a:gs>
                <a:gs pos="100000">
                  <a:srgbClr val="F3FFD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864" cy="121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9127665" y="12480520"/>
            <a:ext cx="1159330" cy="663980"/>
          </a:xfrm>
          <a:custGeom>
            <a:avLst/>
            <a:gdLst/>
            <a:ahLst/>
            <a:cxnLst/>
            <a:rect l="l" t="t" r="r" b="b"/>
            <a:pathLst>
              <a:path w="1159330" h="663980">
                <a:moveTo>
                  <a:pt x="0" y="0"/>
                </a:moveTo>
                <a:lnTo>
                  <a:pt x="1159330" y="0"/>
                </a:lnTo>
                <a:lnTo>
                  <a:pt x="1159330" y="663980"/>
                </a:lnTo>
                <a:lnTo>
                  <a:pt x="0" y="6639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2028970" y="12567358"/>
            <a:ext cx="2195535" cy="441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19"/>
              </a:lnSpc>
            </a:pPr>
            <a:r>
              <a:rPr lang="en-US" sz="2999" b="1" spc="-92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Your Name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42108" y="1102088"/>
            <a:ext cx="1622808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52"/>
              </a:lnSpc>
            </a:pPr>
            <a:r>
              <a:rPr lang="en-US" sz="1800" spc="-55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AI &amp; Tech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45637" y="1102088"/>
            <a:ext cx="2338725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800" spc="-55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AI Breakdown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40678" y="1102088"/>
            <a:ext cx="2746317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52"/>
              </a:lnSpc>
            </a:pPr>
            <a:r>
              <a:rPr lang="en-US" sz="1800" spc="-55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The key takeaways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9114" y="7258050"/>
            <a:ext cx="9097886" cy="4464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67"/>
              </a:lnSpc>
            </a:pPr>
            <a:r>
              <a:rPr lang="en-US" sz="10704" b="1" spc="-331" dirty="0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What This</a:t>
            </a:r>
            <a:r>
              <a:rPr lang="en-US" sz="10704" b="1" spc="-33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 Means For You</a:t>
            </a:r>
            <a:r>
              <a:rPr lang="en-US" sz="10704" b="1" spc="-331" dirty="0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/>
            </a:r>
            <a:r>
              <a:rPr lang="en-US" sz="10704" b="1" spc="-33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/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3005" y="2748654"/>
            <a:ext cx="1983733" cy="176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49"/>
              </a:lnSpc>
            </a:pPr>
            <a:r>
              <a:rPr lang="en-US" sz="2499" b="1" spc="-77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This release signals a major shift in how AI models handle complex reasoning tasks at scale.</a:t>
            </a:r>
            <a:r>
              <a:rPr lang="en-US" sz="2499" spc="-7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/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92363" y="2748654"/>
            <a:ext cx="2730406" cy="176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49"/>
              </a:lnSpc>
            </a:pPr>
            <a:r>
              <a:rPr lang="en-US" sz="2499" spc="-7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Open-source alternatives are closing the gap fast, putting pressure on major labs.</a:t>
            </a:r>
            <a:r>
              <a:rPr lang="en-US" sz="2499" b="1" spc="-77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/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76993" y="2748654"/>
            <a:ext cx="2310007" cy="176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49"/>
              </a:lnSpc>
            </a:pPr>
            <a:r>
              <a:rPr lang="en-US" sz="2499" spc="-7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Businesses that adopt early will gain a significant productivity edge over competitors.</a:t>
            </a:r>
            <a:r>
              <a:rPr lang="en-US" sz="2499" b="1" spc="-77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/>
            </a:r>
            <a:r>
              <a:rPr lang="en-US" sz="2499" spc="-7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/>
            </a:r>
          </a:p>
        </p:txBody>
      </p:sp>
      <p:sp>
        <p:nvSpPr>
          <p:cNvPr id="23" name="Freeform 23"/>
          <p:cNvSpPr/>
          <p:nvPr/>
        </p:nvSpPr>
        <p:spPr>
          <a:xfrm>
            <a:off x="9131997" y="7143750"/>
            <a:ext cx="575333" cy="549182"/>
          </a:xfrm>
          <a:custGeom>
            <a:avLst/>
            <a:gdLst/>
            <a:ahLst/>
            <a:cxnLst/>
            <a:rect l="l" t="t" r="r" b="b"/>
            <a:pathLst>
              <a:path w="575333" h="549182">
                <a:moveTo>
                  <a:pt x="0" y="0"/>
                </a:moveTo>
                <a:lnTo>
                  <a:pt x="575333" y="0"/>
                </a:lnTo>
                <a:lnTo>
                  <a:pt x="575333" y="549182"/>
                </a:lnTo>
                <a:lnTo>
                  <a:pt x="0" y="5491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4" name="Group 10">
            <a:extLst>
              <a:ext uri="{FF2B5EF4-FFF2-40B4-BE49-F238E27FC236}">
                <a16:creationId xmlns:a16="http://schemas.microsoft.com/office/drawing/2014/main" id="{403764B4-9273-157E-AAB9-96558A4EAD29}"/>
              </a:ext>
            </a:extLst>
          </p:cNvPr>
          <p:cNvGrpSpPr/>
          <p:nvPr/>
        </p:nvGrpSpPr>
        <p:grpSpPr>
          <a:xfrm>
            <a:off x="3847603" y="6346254"/>
            <a:ext cx="3819926" cy="683196"/>
            <a:chOff x="0" y="0"/>
            <a:chExt cx="905464" cy="161943"/>
          </a:xfrm>
        </p:grpSpPr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68ACC0EC-930A-6F04-29F4-C1DBE418D3AC}"/>
                </a:ext>
              </a:extLst>
            </p:cNvPr>
            <p:cNvSpPr/>
            <p:nvPr/>
          </p:nvSpPr>
          <p:spPr>
            <a:xfrm>
              <a:off x="0" y="0"/>
              <a:ext cx="905464" cy="161943"/>
            </a:xfrm>
            <a:custGeom>
              <a:avLst/>
              <a:gdLst/>
              <a:ahLst/>
              <a:cxnLst/>
              <a:rect l="l" t="t" r="r" b="b"/>
              <a:pathLst>
                <a:path w="813710" h="161943">
                  <a:moveTo>
                    <a:pt x="80971" y="0"/>
                  </a:moveTo>
                  <a:lnTo>
                    <a:pt x="732739" y="0"/>
                  </a:lnTo>
                  <a:cubicBezTo>
                    <a:pt x="777458" y="0"/>
                    <a:pt x="813710" y="36252"/>
                    <a:pt x="813710" y="80971"/>
                  </a:cubicBezTo>
                  <a:lnTo>
                    <a:pt x="813710" y="80971"/>
                  </a:lnTo>
                  <a:cubicBezTo>
                    <a:pt x="813710" y="102446"/>
                    <a:pt x="805179" y="123042"/>
                    <a:pt x="789994" y="138227"/>
                  </a:cubicBezTo>
                  <a:cubicBezTo>
                    <a:pt x="774809" y="153412"/>
                    <a:pt x="754214" y="161943"/>
                    <a:pt x="732739" y="161943"/>
                  </a:cubicBezTo>
                  <a:lnTo>
                    <a:pt x="80971" y="161943"/>
                  </a:lnTo>
                  <a:cubicBezTo>
                    <a:pt x="59496" y="161943"/>
                    <a:pt x="38901" y="153412"/>
                    <a:pt x="23716" y="138227"/>
                  </a:cubicBezTo>
                  <a:cubicBezTo>
                    <a:pt x="8531" y="123042"/>
                    <a:pt x="0" y="102446"/>
                    <a:pt x="0" y="80971"/>
                  </a:cubicBezTo>
                  <a:lnTo>
                    <a:pt x="0" y="80971"/>
                  </a:lnTo>
                  <a:cubicBezTo>
                    <a:pt x="0" y="59496"/>
                    <a:pt x="8531" y="38901"/>
                    <a:pt x="23716" y="23716"/>
                  </a:cubicBezTo>
                  <a:cubicBezTo>
                    <a:pt x="38901" y="8531"/>
                    <a:pt x="59496" y="0"/>
                    <a:pt x="8097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B400">
                    <a:alpha val="69000"/>
                  </a:srgbClr>
                </a:gs>
                <a:gs pos="50000">
                  <a:srgbClr val="C4FF00">
                    <a:alpha val="69000"/>
                  </a:srgbClr>
                </a:gs>
                <a:gs pos="100000">
                  <a:srgbClr val="F3FFD1">
                    <a:alpha val="69000"/>
                  </a:srgbClr>
                </a:gs>
              </a:gsLst>
              <a:lin ang="2700000"/>
            </a:gradFill>
          </p:spPr>
          <p:txBody>
            <a:bodyPr numCol="1" anchor="ctr"/>
            <a:lstStyle/>
            <a:p>
              <a:pPr algn="ctr"/>
              <a:r>
                <a:rPr lang="af-ZA" sz="2400" b="1" dirty="0">
                  <a:solidFill>
                    <a:schemeClr val="bg1"/>
                  </a:solidFill>
                </a:rPr>
                <a:t>Three Things To Know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26" name="TextBox 12">
              <a:extLst>
                <a:ext uri="{FF2B5EF4-FFF2-40B4-BE49-F238E27FC236}">
                  <a16:creationId xmlns:a16="http://schemas.microsoft.com/office/drawing/2014/main" id="{1DDE40CA-43E3-2645-881D-43D519B66572}"/>
                </a:ext>
              </a:extLst>
            </p:cNvPr>
            <p:cNvSpPr txBox="1"/>
            <p:nvPr/>
          </p:nvSpPr>
          <p:spPr>
            <a:xfrm>
              <a:off x="0" y="9525"/>
              <a:ext cx="813710" cy="152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52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5" y="12422651"/>
            <a:ext cx="721849" cy="72184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8566" t="-5747" b="-7194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42995" y="1062698"/>
            <a:ext cx="92237" cy="351193"/>
            <a:chOff x="0" y="0"/>
            <a:chExt cx="21864" cy="832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864" cy="83246"/>
            </a:xfrm>
            <a:custGeom>
              <a:avLst/>
              <a:gdLst/>
              <a:ahLst/>
              <a:cxnLst/>
              <a:rect l="l" t="t" r="r" b="b"/>
              <a:pathLst>
                <a:path w="21864" h="83246">
                  <a:moveTo>
                    <a:pt x="10932" y="0"/>
                  </a:moveTo>
                  <a:lnTo>
                    <a:pt x="10932" y="0"/>
                  </a:lnTo>
                  <a:cubicBezTo>
                    <a:pt x="16969" y="0"/>
                    <a:pt x="21864" y="4894"/>
                    <a:pt x="21864" y="10932"/>
                  </a:cubicBezTo>
                  <a:lnTo>
                    <a:pt x="21864" y="72314"/>
                  </a:lnTo>
                  <a:cubicBezTo>
                    <a:pt x="21864" y="75213"/>
                    <a:pt x="20712" y="77994"/>
                    <a:pt x="18662" y="80044"/>
                  </a:cubicBezTo>
                  <a:cubicBezTo>
                    <a:pt x="16612" y="82094"/>
                    <a:pt x="13831" y="83246"/>
                    <a:pt x="10932" y="83246"/>
                  </a:cubicBezTo>
                  <a:lnTo>
                    <a:pt x="10932" y="83246"/>
                  </a:lnTo>
                  <a:cubicBezTo>
                    <a:pt x="4894" y="83246"/>
                    <a:pt x="0" y="78351"/>
                    <a:pt x="0" y="72314"/>
                  </a:cubicBezTo>
                  <a:lnTo>
                    <a:pt x="0" y="10932"/>
                  </a:lnTo>
                  <a:cubicBezTo>
                    <a:pt x="0" y="8032"/>
                    <a:pt x="1152" y="5252"/>
                    <a:pt x="3202" y="3202"/>
                  </a:cubicBezTo>
                  <a:cubicBezTo>
                    <a:pt x="5252" y="1152"/>
                    <a:pt x="8032" y="0"/>
                    <a:pt x="109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B400">
                    <a:alpha val="100000"/>
                  </a:srgbClr>
                </a:gs>
                <a:gs pos="50000">
                  <a:srgbClr val="C4FF00">
                    <a:alpha val="100000"/>
                  </a:srgbClr>
                </a:gs>
                <a:gs pos="100000">
                  <a:srgbClr val="F3FFD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864" cy="121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9333376" y="12451585"/>
            <a:ext cx="1159330" cy="663980"/>
          </a:xfrm>
          <a:custGeom>
            <a:avLst/>
            <a:gdLst/>
            <a:ahLst/>
            <a:cxnLst/>
            <a:rect l="l" t="t" r="r" b="b"/>
            <a:pathLst>
              <a:path w="1159330" h="663980">
                <a:moveTo>
                  <a:pt x="0" y="0"/>
                </a:moveTo>
                <a:lnTo>
                  <a:pt x="1159330" y="0"/>
                </a:lnTo>
                <a:lnTo>
                  <a:pt x="1159330" y="663980"/>
                </a:lnTo>
                <a:lnTo>
                  <a:pt x="0" y="6639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2800350" y="5724525"/>
            <a:ext cx="5829300" cy="2914650"/>
            <a:chOff x="0" y="0"/>
            <a:chExt cx="812800" cy="40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34531" y="0"/>
                  </a:moveTo>
                  <a:lnTo>
                    <a:pt x="778269" y="0"/>
                  </a:lnTo>
                  <a:cubicBezTo>
                    <a:pt x="797340" y="0"/>
                    <a:pt x="812800" y="15460"/>
                    <a:pt x="812800" y="34531"/>
                  </a:cubicBezTo>
                  <a:lnTo>
                    <a:pt x="812800" y="371869"/>
                  </a:lnTo>
                  <a:cubicBezTo>
                    <a:pt x="812800" y="390940"/>
                    <a:pt x="797340" y="406400"/>
                    <a:pt x="778269" y="406400"/>
                  </a:cubicBezTo>
                  <a:lnTo>
                    <a:pt x="34531" y="406400"/>
                  </a:lnTo>
                  <a:cubicBezTo>
                    <a:pt x="15460" y="406400"/>
                    <a:pt x="0" y="390940"/>
                    <a:pt x="0" y="371869"/>
                  </a:cubicBezTo>
                  <a:lnTo>
                    <a:pt x="0" y="34531"/>
                  </a:lnTo>
                  <a:cubicBezTo>
                    <a:pt x="0" y="15460"/>
                    <a:pt x="15460" y="0"/>
                    <a:pt x="34531" y="0"/>
                  </a:cubicBezTo>
                  <a:close/>
                </a:path>
              </a:pathLst>
            </a:custGeom>
            <a:blipFill>
              <a:blip r:embed="rId4"/>
              <a:stretch>
                <a:fillRect t="-16727" b="-1672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9419663" y="6748073"/>
            <a:ext cx="575333" cy="549182"/>
          </a:xfrm>
          <a:custGeom>
            <a:avLst/>
            <a:gdLst/>
            <a:ahLst/>
            <a:cxnLst/>
            <a:rect l="l" t="t" r="r" b="b"/>
            <a:pathLst>
              <a:path w="575333" h="549182">
                <a:moveTo>
                  <a:pt x="0" y="0"/>
                </a:moveTo>
                <a:lnTo>
                  <a:pt x="575333" y="0"/>
                </a:lnTo>
                <a:lnTo>
                  <a:pt x="575333" y="549182"/>
                </a:lnTo>
                <a:lnTo>
                  <a:pt x="0" y="5491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453637" y="6869159"/>
            <a:ext cx="575333" cy="549182"/>
          </a:xfrm>
          <a:custGeom>
            <a:avLst/>
            <a:gdLst/>
            <a:ahLst/>
            <a:cxnLst/>
            <a:rect l="l" t="t" r="r" b="b"/>
            <a:pathLst>
              <a:path w="575333" h="549182">
                <a:moveTo>
                  <a:pt x="0" y="0"/>
                </a:moveTo>
                <a:lnTo>
                  <a:pt x="575333" y="0"/>
                </a:lnTo>
                <a:lnTo>
                  <a:pt x="575333" y="549182"/>
                </a:lnTo>
                <a:lnTo>
                  <a:pt x="0" y="5491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2028970" y="12567358"/>
            <a:ext cx="2195535" cy="441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19"/>
              </a:lnSpc>
            </a:pPr>
            <a:r>
              <a:rPr lang="en-US" sz="2999" b="1" spc="-92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Your Name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42108" y="1102088"/>
            <a:ext cx="1622808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52"/>
              </a:lnSpc>
            </a:pPr>
            <a:r>
              <a:rPr lang="en-US" sz="1800" spc="-55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AI &amp; Tech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45637" y="1102088"/>
            <a:ext cx="2338725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800" spc="-55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AI Breakdown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40678" y="1102088"/>
            <a:ext cx="2746317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52"/>
              </a:lnSpc>
            </a:pPr>
            <a:r>
              <a:rPr lang="en-US" sz="1800" spc="-55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The full picture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89114" y="2472393"/>
            <a:ext cx="9097882" cy="2707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580"/>
              </a:lnSpc>
            </a:pPr>
            <a:r>
              <a:rPr lang="en-US" sz="9707" b="1" spc="-300" dirty="0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Here's The</a:t>
            </a:r>
            <a:r>
              <a:rPr lang="en-US" sz="9707" b="1" spc="-300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 Real Story</a:t>
            </a:r>
            <a:r>
              <a:rPr lang="en-US" sz="9707" b="1" spc="-300" dirty="0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/>
            </a:r>
            <a:r>
              <a:rPr lang="en-US" sz="9707" b="1" spc="-300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/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89114" y="9646519"/>
            <a:ext cx="5261010" cy="14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49"/>
              </a:lnSpc>
            </a:pPr>
            <a:r>
              <a:rPr lang="en-US" sz="2499" spc="-77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The announcement caught the industry by surprise.</a:t>
            </a:r>
            <a:r>
              <a:rPr lang="en-US" sz="2499" b="1" spc="-77" dirty="0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Experts call it a landmark moment</a:t>
            </a:r>
            <a:r>
              <a:rPr lang="en-US" sz="2499" spc="-77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in the history of AI development.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40678" y="9646519"/>
            <a:ext cx="2792430" cy="14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49"/>
              </a:lnSpc>
            </a:pPr>
            <a:r>
              <a:rPr lang="en-US" sz="2499" spc="-7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The</a:t>
            </a:r>
            <a:r>
              <a:rPr lang="en-US" sz="2499" b="1" spc="-77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implications are broad</a:t>
            </a:r>
            <a:r>
              <a:rPr lang="en-US" sz="2499" spc="-7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and felt across every sector.</a:t>
            </a:r>
            <a:r>
              <a:rPr lang="en-US" sz="2499" b="1" spc="-77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/>
            </a:r>
            <a:r>
              <a:rPr lang="en-US" sz="2499" spc="-7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5" y="12422651"/>
            <a:ext cx="721849" cy="72184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8566" t="-5747" b="-7194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42995" y="1062698"/>
            <a:ext cx="92237" cy="351193"/>
            <a:chOff x="0" y="0"/>
            <a:chExt cx="21864" cy="832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864" cy="83246"/>
            </a:xfrm>
            <a:custGeom>
              <a:avLst/>
              <a:gdLst/>
              <a:ahLst/>
              <a:cxnLst/>
              <a:rect l="l" t="t" r="r" b="b"/>
              <a:pathLst>
                <a:path w="21864" h="83246">
                  <a:moveTo>
                    <a:pt x="10932" y="0"/>
                  </a:moveTo>
                  <a:lnTo>
                    <a:pt x="10932" y="0"/>
                  </a:lnTo>
                  <a:cubicBezTo>
                    <a:pt x="16969" y="0"/>
                    <a:pt x="21864" y="4894"/>
                    <a:pt x="21864" y="10932"/>
                  </a:cubicBezTo>
                  <a:lnTo>
                    <a:pt x="21864" y="72314"/>
                  </a:lnTo>
                  <a:cubicBezTo>
                    <a:pt x="21864" y="75213"/>
                    <a:pt x="20712" y="77994"/>
                    <a:pt x="18662" y="80044"/>
                  </a:cubicBezTo>
                  <a:cubicBezTo>
                    <a:pt x="16612" y="82094"/>
                    <a:pt x="13831" y="83246"/>
                    <a:pt x="10932" y="83246"/>
                  </a:cubicBezTo>
                  <a:lnTo>
                    <a:pt x="10932" y="83246"/>
                  </a:lnTo>
                  <a:cubicBezTo>
                    <a:pt x="4894" y="83246"/>
                    <a:pt x="0" y="78351"/>
                    <a:pt x="0" y="72314"/>
                  </a:cubicBezTo>
                  <a:lnTo>
                    <a:pt x="0" y="10932"/>
                  </a:lnTo>
                  <a:cubicBezTo>
                    <a:pt x="0" y="8032"/>
                    <a:pt x="1152" y="5252"/>
                    <a:pt x="3202" y="3202"/>
                  </a:cubicBezTo>
                  <a:cubicBezTo>
                    <a:pt x="5252" y="1152"/>
                    <a:pt x="8032" y="0"/>
                    <a:pt x="109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B400">
                    <a:alpha val="100000"/>
                  </a:srgbClr>
                </a:gs>
                <a:gs pos="50000">
                  <a:srgbClr val="C4FF00">
                    <a:alpha val="100000"/>
                  </a:srgbClr>
                </a:gs>
                <a:gs pos="100000">
                  <a:srgbClr val="F3FFD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864" cy="121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9127665" y="12480520"/>
            <a:ext cx="1159330" cy="663980"/>
          </a:xfrm>
          <a:custGeom>
            <a:avLst/>
            <a:gdLst/>
            <a:ahLst/>
            <a:cxnLst/>
            <a:rect l="l" t="t" r="r" b="b"/>
            <a:pathLst>
              <a:path w="1159330" h="663980">
                <a:moveTo>
                  <a:pt x="0" y="0"/>
                </a:moveTo>
                <a:lnTo>
                  <a:pt x="1159330" y="0"/>
                </a:lnTo>
                <a:lnTo>
                  <a:pt x="1159330" y="663980"/>
                </a:lnTo>
                <a:lnTo>
                  <a:pt x="0" y="6639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2791033" y="3703291"/>
            <a:ext cx="5829300" cy="2914650"/>
            <a:chOff x="0" y="0"/>
            <a:chExt cx="812800" cy="406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34531" y="0"/>
                  </a:moveTo>
                  <a:lnTo>
                    <a:pt x="778269" y="0"/>
                  </a:lnTo>
                  <a:cubicBezTo>
                    <a:pt x="797340" y="0"/>
                    <a:pt x="812800" y="15460"/>
                    <a:pt x="812800" y="34531"/>
                  </a:cubicBezTo>
                  <a:lnTo>
                    <a:pt x="812800" y="371869"/>
                  </a:lnTo>
                  <a:cubicBezTo>
                    <a:pt x="812800" y="390940"/>
                    <a:pt x="797340" y="406400"/>
                    <a:pt x="778269" y="406400"/>
                  </a:cubicBezTo>
                  <a:lnTo>
                    <a:pt x="34531" y="406400"/>
                  </a:lnTo>
                  <a:cubicBezTo>
                    <a:pt x="15460" y="406400"/>
                    <a:pt x="0" y="390940"/>
                    <a:pt x="0" y="371869"/>
                  </a:cubicBezTo>
                  <a:lnTo>
                    <a:pt x="0" y="34531"/>
                  </a:lnTo>
                  <a:cubicBezTo>
                    <a:pt x="0" y="15460"/>
                    <a:pt x="15460" y="0"/>
                    <a:pt x="34531" y="0"/>
                  </a:cubicBezTo>
                  <a:close/>
                </a:path>
              </a:pathLst>
            </a:custGeom>
            <a:blipFill>
              <a:blip r:embed="rId4"/>
              <a:stretch>
                <a:fillRect l="-7213" r="-7213" b="-2787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Freeform 16"/>
          <p:cNvSpPr/>
          <p:nvPr/>
        </p:nvSpPr>
        <p:spPr>
          <a:xfrm>
            <a:off x="9410347" y="4726839"/>
            <a:ext cx="575333" cy="549182"/>
          </a:xfrm>
          <a:custGeom>
            <a:avLst/>
            <a:gdLst/>
            <a:ahLst/>
            <a:cxnLst/>
            <a:rect l="l" t="t" r="r" b="b"/>
            <a:pathLst>
              <a:path w="575333" h="549182">
                <a:moveTo>
                  <a:pt x="0" y="0"/>
                </a:moveTo>
                <a:lnTo>
                  <a:pt x="575333" y="0"/>
                </a:lnTo>
                <a:lnTo>
                  <a:pt x="575333" y="549182"/>
                </a:lnTo>
                <a:lnTo>
                  <a:pt x="0" y="5491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444320" y="4847925"/>
            <a:ext cx="575333" cy="549182"/>
          </a:xfrm>
          <a:custGeom>
            <a:avLst/>
            <a:gdLst/>
            <a:ahLst/>
            <a:cxnLst/>
            <a:rect l="l" t="t" r="r" b="b"/>
            <a:pathLst>
              <a:path w="575333" h="549182">
                <a:moveTo>
                  <a:pt x="0" y="0"/>
                </a:moveTo>
                <a:lnTo>
                  <a:pt x="575333" y="0"/>
                </a:lnTo>
                <a:lnTo>
                  <a:pt x="575333" y="549182"/>
                </a:lnTo>
                <a:lnTo>
                  <a:pt x="0" y="5491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2028970" y="12567358"/>
            <a:ext cx="2195535" cy="441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19"/>
              </a:lnSpc>
            </a:pPr>
            <a:r>
              <a:rPr lang="en-US" sz="2999" b="1" spc="-92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Your Name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42108" y="1102088"/>
            <a:ext cx="1622808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52"/>
              </a:lnSpc>
            </a:pPr>
            <a:r>
              <a:rPr lang="en-US" sz="1800" spc="-55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AI &amp; Tech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45637" y="1102088"/>
            <a:ext cx="2338725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800" spc="-55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AI Breakdown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50488" y="1102088"/>
            <a:ext cx="3036512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52"/>
              </a:lnSpc>
            </a:pPr>
            <a:r>
              <a:rPr lang="en-US" sz="1800" spc="-55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Take action now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89114" y="7147855"/>
            <a:ext cx="9097886" cy="2987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67"/>
              </a:lnSpc>
            </a:pPr>
            <a:r>
              <a:rPr lang="en-US" sz="10704" b="1" spc="-331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How To</a:t>
            </a:r>
            <a:r>
              <a:rPr lang="en-US" sz="10704" b="1" spc="-33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 Stay Ahead</a:t>
            </a:r>
            <a:r>
              <a:rPr lang="en-US" sz="10704" b="1" spc="-331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/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13748" y="10407728"/>
            <a:ext cx="7202505" cy="14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499" b="1" spc="-77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Start by understanding the core change.</a:t>
            </a:r>
            <a:r>
              <a:rPr lang="en-US" sz="2499" spc="-7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Audit your current AI tools and workflows</a:t>
            </a:r>
            <a:r>
              <a:rPr lang="en-US" sz="2499" b="1" spc="-77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to identify where this applies, then act fast.</a:t>
            </a:r>
            <a:r>
              <a:rPr lang="en-US" sz="2499" spc="-7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/>
            </a:r>
          </a:p>
        </p:txBody>
      </p:sp>
      <p:grpSp>
        <p:nvGrpSpPr>
          <p:cNvPr id="25" name="Group 10">
            <a:extLst>
              <a:ext uri="{FF2B5EF4-FFF2-40B4-BE49-F238E27FC236}">
                <a16:creationId xmlns:a16="http://schemas.microsoft.com/office/drawing/2014/main" id="{D64BF66D-1A1E-E020-0514-F77DD5544ABF}"/>
              </a:ext>
            </a:extLst>
          </p:cNvPr>
          <p:cNvGrpSpPr/>
          <p:nvPr/>
        </p:nvGrpSpPr>
        <p:grpSpPr>
          <a:xfrm>
            <a:off x="3828094" y="2246839"/>
            <a:ext cx="3819926" cy="683196"/>
            <a:chOff x="0" y="0"/>
            <a:chExt cx="905464" cy="161943"/>
          </a:xfrm>
        </p:grpSpPr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127A91B9-702E-6F6E-ABE9-5766F05BA120}"/>
                </a:ext>
              </a:extLst>
            </p:cNvPr>
            <p:cNvSpPr/>
            <p:nvPr/>
          </p:nvSpPr>
          <p:spPr>
            <a:xfrm>
              <a:off x="0" y="0"/>
              <a:ext cx="905464" cy="161943"/>
            </a:xfrm>
            <a:custGeom>
              <a:avLst/>
              <a:gdLst/>
              <a:ahLst/>
              <a:cxnLst/>
              <a:rect l="l" t="t" r="r" b="b"/>
              <a:pathLst>
                <a:path w="813710" h="161943">
                  <a:moveTo>
                    <a:pt x="80971" y="0"/>
                  </a:moveTo>
                  <a:lnTo>
                    <a:pt x="732739" y="0"/>
                  </a:lnTo>
                  <a:cubicBezTo>
                    <a:pt x="777458" y="0"/>
                    <a:pt x="813710" y="36252"/>
                    <a:pt x="813710" y="80971"/>
                  </a:cubicBezTo>
                  <a:lnTo>
                    <a:pt x="813710" y="80971"/>
                  </a:lnTo>
                  <a:cubicBezTo>
                    <a:pt x="813710" y="102446"/>
                    <a:pt x="805179" y="123042"/>
                    <a:pt x="789994" y="138227"/>
                  </a:cubicBezTo>
                  <a:cubicBezTo>
                    <a:pt x="774809" y="153412"/>
                    <a:pt x="754214" y="161943"/>
                    <a:pt x="732739" y="161943"/>
                  </a:cubicBezTo>
                  <a:lnTo>
                    <a:pt x="80971" y="161943"/>
                  </a:lnTo>
                  <a:cubicBezTo>
                    <a:pt x="59496" y="161943"/>
                    <a:pt x="38901" y="153412"/>
                    <a:pt x="23716" y="138227"/>
                  </a:cubicBezTo>
                  <a:cubicBezTo>
                    <a:pt x="8531" y="123042"/>
                    <a:pt x="0" y="102446"/>
                    <a:pt x="0" y="80971"/>
                  </a:cubicBezTo>
                  <a:lnTo>
                    <a:pt x="0" y="80971"/>
                  </a:lnTo>
                  <a:cubicBezTo>
                    <a:pt x="0" y="59496"/>
                    <a:pt x="8531" y="38901"/>
                    <a:pt x="23716" y="23716"/>
                  </a:cubicBezTo>
                  <a:cubicBezTo>
                    <a:pt x="38901" y="8531"/>
                    <a:pt x="59496" y="0"/>
                    <a:pt x="8097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B400">
                    <a:alpha val="69000"/>
                  </a:srgbClr>
                </a:gs>
                <a:gs pos="50000">
                  <a:srgbClr val="C4FF00">
                    <a:alpha val="69000"/>
                  </a:srgbClr>
                </a:gs>
                <a:gs pos="100000">
                  <a:srgbClr val="F3FFD1">
                    <a:alpha val="69000"/>
                  </a:srgbClr>
                </a:gs>
              </a:gsLst>
              <a:lin ang="2700000"/>
            </a:gradFill>
          </p:spPr>
          <p:txBody>
            <a:bodyPr numCol="1" anchor="ctr"/>
            <a:lstStyle/>
            <a:p>
              <a:pPr algn="ctr"/>
              <a:r>
                <a:rPr lang="af-ZA" sz="2400" b="1" dirty="0">
                  <a:solidFill>
                    <a:schemeClr val="bg1"/>
                  </a:solidFill>
                </a:rPr>
                <a:t>Your Next Move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27" name="TextBox 12">
              <a:extLst>
                <a:ext uri="{FF2B5EF4-FFF2-40B4-BE49-F238E27FC236}">
                  <a16:creationId xmlns:a16="http://schemas.microsoft.com/office/drawing/2014/main" id="{CD6B67DD-0598-B641-54EE-4B784E0202C5}"/>
                </a:ext>
              </a:extLst>
            </p:cNvPr>
            <p:cNvSpPr txBox="1"/>
            <p:nvPr/>
          </p:nvSpPr>
          <p:spPr>
            <a:xfrm>
              <a:off x="0" y="9525"/>
              <a:ext cx="813710" cy="152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52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5" y="12422651"/>
            <a:ext cx="721849" cy="72184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8566" t="-5747" b="-7194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42995" y="1062698"/>
            <a:ext cx="92237" cy="351193"/>
            <a:chOff x="0" y="0"/>
            <a:chExt cx="21864" cy="832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864" cy="83246"/>
            </a:xfrm>
            <a:custGeom>
              <a:avLst/>
              <a:gdLst/>
              <a:ahLst/>
              <a:cxnLst/>
              <a:rect l="l" t="t" r="r" b="b"/>
              <a:pathLst>
                <a:path w="21864" h="83246">
                  <a:moveTo>
                    <a:pt x="10932" y="0"/>
                  </a:moveTo>
                  <a:lnTo>
                    <a:pt x="10932" y="0"/>
                  </a:lnTo>
                  <a:cubicBezTo>
                    <a:pt x="16969" y="0"/>
                    <a:pt x="21864" y="4894"/>
                    <a:pt x="21864" y="10932"/>
                  </a:cubicBezTo>
                  <a:lnTo>
                    <a:pt x="21864" y="72314"/>
                  </a:lnTo>
                  <a:cubicBezTo>
                    <a:pt x="21864" y="75213"/>
                    <a:pt x="20712" y="77994"/>
                    <a:pt x="18662" y="80044"/>
                  </a:cubicBezTo>
                  <a:cubicBezTo>
                    <a:pt x="16612" y="82094"/>
                    <a:pt x="13831" y="83246"/>
                    <a:pt x="10932" y="83246"/>
                  </a:cubicBezTo>
                  <a:lnTo>
                    <a:pt x="10932" y="83246"/>
                  </a:lnTo>
                  <a:cubicBezTo>
                    <a:pt x="4894" y="83246"/>
                    <a:pt x="0" y="78351"/>
                    <a:pt x="0" y="72314"/>
                  </a:cubicBezTo>
                  <a:lnTo>
                    <a:pt x="0" y="10932"/>
                  </a:lnTo>
                  <a:cubicBezTo>
                    <a:pt x="0" y="8032"/>
                    <a:pt x="1152" y="5252"/>
                    <a:pt x="3202" y="3202"/>
                  </a:cubicBezTo>
                  <a:cubicBezTo>
                    <a:pt x="5252" y="1152"/>
                    <a:pt x="8032" y="0"/>
                    <a:pt x="109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B400">
                    <a:alpha val="100000"/>
                  </a:srgbClr>
                </a:gs>
                <a:gs pos="50000">
                  <a:srgbClr val="C4FF00">
                    <a:alpha val="100000"/>
                  </a:srgbClr>
                </a:gs>
                <a:gs pos="100000">
                  <a:srgbClr val="F3FFD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864" cy="121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9127665" y="12480520"/>
            <a:ext cx="1159330" cy="663980"/>
          </a:xfrm>
          <a:custGeom>
            <a:avLst/>
            <a:gdLst/>
            <a:ahLst/>
            <a:cxnLst/>
            <a:rect l="l" t="t" r="r" b="b"/>
            <a:pathLst>
              <a:path w="1159330" h="663980">
                <a:moveTo>
                  <a:pt x="0" y="0"/>
                </a:moveTo>
                <a:lnTo>
                  <a:pt x="1159330" y="0"/>
                </a:lnTo>
                <a:lnTo>
                  <a:pt x="1159330" y="663980"/>
                </a:lnTo>
                <a:lnTo>
                  <a:pt x="0" y="6639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2028970" y="12567358"/>
            <a:ext cx="2195535" cy="441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19"/>
              </a:lnSpc>
            </a:pPr>
            <a:r>
              <a:rPr lang="en-US" sz="2999" b="1" spc="-92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Your Name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42108" y="1102088"/>
            <a:ext cx="1622808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52"/>
              </a:lnSpc>
            </a:pPr>
            <a:r>
              <a:rPr lang="en-US" sz="1800" spc="-55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AI &amp; Tech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45637" y="1102088"/>
            <a:ext cx="2338725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800" spc="-55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AI Breakdown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40678" y="1102088"/>
            <a:ext cx="2746317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52"/>
              </a:lnSpc>
            </a:pPr>
            <a:r>
              <a:rPr lang="en-US" sz="1800" spc="-55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Follow for daily AI insights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9114" y="3007109"/>
            <a:ext cx="8564335" cy="5306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057"/>
              </a:lnSpc>
            </a:pPr>
            <a:r>
              <a:rPr lang="en-US" sz="22536" b="1" spc="-698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Stay Sharp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142985" y="10042296"/>
            <a:ext cx="9144000" cy="1905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1142975" y="11675885"/>
            <a:ext cx="9144000" cy="1905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6584708" y="5789534"/>
            <a:ext cx="2004177" cy="1913078"/>
          </a:xfrm>
          <a:custGeom>
            <a:avLst/>
            <a:gdLst/>
            <a:ahLst/>
            <a:cxnLst/>
            <a:rect l="l" t="t" r="r" b="b"/>
            <a:pathLst>
              <a:path w="2004177" h="1913078">
                <a:moveTo>
                  <a:pt x="0" y="0"/>
                </a:moveTo>
                <a:lnTo>
                  <a:pt x="2004177" y="0"/>
                </a:lnTo>
                <a:lnTo>
                  <a:pt x="2004177" y="1913078"/>
                </a:lnTo>
                <a:lnTo>
                  <a:pt x="0" y="19130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235232" y="8390411"/>
            <a:ext cx="7202505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49"/>
              </a:lnSpc>
            </a:pPr>
            <a:r>
              <a:rPr lang="en-US" sz="2499" b="1" spc="-77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The AI space moves fast —</a:t>
            </a:r>
            <a:r>
              <a:rPr lang="en-US" sz="2499" spc="-7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stay curious and keep learning.</a:t>
            </a:r>
            <a:r>
              <a:rPr lang="en-US" sz="2499" b="1" spc="-77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See you next week.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112705" y="10727235"/>
            <a:ext cx="1204589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499" b="1" spc="-77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/</a:t>
            </a:r>
          </a:p>
        </p:txBody>
      </p:sp>
      <p:grpSp>
        <p:nvGrpSpPr>
          <p:cNvPr id="32" name="Group 10">
            <a:extLst>
              <a:ext uri="{FF2B5EF4-FFF2-40B4-BE49-F238E27FC236}">
                <a16:creationId xmlns:a16="http://schemas.microsoft.com/office/drawing/2014/main" id="{E6CE40AC-A234-ADD3-BCA6-F31FAFF87E4A}"/>
              </a:ext>
            </a:extLst>
          </p:cNvPr>
          <p:cNvGrpSpPr/>
          <p:nvPr/>
        </p:nvGrpSpPr>
        <p:grpSpPr>
          <a:xfrm>
            <a:off x="1054953" y="10532131"/>
            <a:ext cx="3819926" cy="683196"/>
            <a:chOff x="0" y="0"/>
            <a:chExt cx="905464" cy="161943"/>
          </a:xfrm>
        </p:grpSpPr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67D323D7-F1C6-182A-A74C-CF3AEC1AA992}"/>
                </a:ext>
              </a:extLst>
            </p:cNvPr>
            <p:cNvSpPr/>
            <p:nvPr/>
          </p:nvSpPr>
          <p:spPr>
            <a:xfrm>
              <a:off x="0" y="0"/>
              <a:ext cx="905464" cy="161943"/>
            </a:xfrm>
            <a:custGeom>
              <a:avLst/>
              <a:gdLst/>
              <a:ahLst/>
              <a:cxnLst/>
              <a:rect l="l" t="t" r="r" b="b"/>
              <a:pathLst>
                <a:path w="813710" h="161943">
                  <a:moveTo>
                    <a:pt x="80971" y="0"/>
                  </a:moveTo>
                  <a:lnTo>
                    <a:pt x="732739" y="0"/>
                  </a:lnTo>
                  <a:cubicBezTo>
                    <a:pt x="777458" y="0"/>
                    <a:pt x="813710" y="36252"/>
                    <a:pt x="813710" y="80971"/>
                  </a:cubicBezTo>
                  <a:lnTo>
                    <a:pt x="813710" y="80971"/>
                  </a:lnTo>
                  <a:cubicBezTo>
                    <a:pt x="813710" y="102446"/>
                    <a:pt x="805179" y="123042"/>
                    <a:pt x="789994" y="138227"/>
                  </a:cubicBezTo>
                  <a:cubicBezTo>
                    <a:pt x="774809" y="153412"/>
                    <a:pt x="754214" y="161943"/>
                    <a:pt x="732739" y="161943"/>
                  </a:cubicBezTo>
                  <a:lnTo>
                    <a:pt x="80971" y="161943"/>
                  </a:lnTo>
                  <a:cubicBezTo>
                    <a:pt x="59496" y="161943"/>
                    <a:pt x="38901" y="153412"/>
                    <a:pt x="23716" y="138227"/>
                  </a:cubicBezTo>
                  <a:cubicBezTo>
                    <a:pt x="8531" y="123042"/>
                    <a:pt x="0" y="102446"/>
                    <a:pt x="0" y="80971"/>
                  </a:cubicBezTo>
                  <a:lnTo>
                    <a:pt x="0" y="80971"/>
                  </a:lnTo>
                  <a:cubicBezTo>
                    <a:pt x="0" y="59496"/>
                    <a:pt x="8531" y="38901"/>
                    <a:pt x="23716" y="23716"/>
                  </a:cubicBezTo>
                  <a:cubicBezTo>
                    <a:pt x="38901" y="8531"/>
                    <a:pt x="59496" y="0"/>
                    <a:pt x="8097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B400">
                    <a:alpha val="69000"/>
                  </a:srgbClr>
                </a:gs>
                <a:gs pos="50000">
                  <a:srgbClr val="C4FF00">
                    <a:alpha val="69000"/>
                  </a:srgbClr>
                </a:gs>
                <a:gs pos="100000">
                  <a:srgbClr val="F3FFD1">
                    <a:alpha val="69000"/>
                  </a:srgbClr>
                </a:gs>
              </a:gsLst>
              <a:lin ang="2700000"/>
            </a:gradFill>
          </p:spPr>
          <p:txBody>
            <a:bodyPr numCol="1" anchor="ctr"/>
            <a:lstStyle/>
            <a:p>
              <a:pPr algn="ctr"/>
              <a:r>
                <a:rPr lang="af-ZA" sz="2400" b="1" dirty="0">
                  <a:solidFill>
                    <a:schemeClr val="bg1"/>
                  </a:solidFill>
                </a:rPr>
                <a:t>@yourhandle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34" name="TextBox 12">
              <a:extLst>
                <a:ext uri="{FF2B5EF4-FFF2-40B4-BE49-F238E27FC236}">
                  <a16:creationId xmlns:a16="http://schemas.microsoft.com/office/drawing/2014/main" id="{7236961D-3437-CC73-AEF4-DBAC3A32CA01}"/>
                </a:ext>
              </a:extLst>
            </p:cNvPr>
            <p:cNvSpPr txBox="1"/>
            <p:nvPr/>
          </p:nvSpPr>
          <p:spPr>
            <a:xfrm>
              <a:off x="0" y="9525"/>
              <a:ext cx="813710" cy="152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52"/>
                </a:lnSpc>
              </a:pPr>
              <a:endParaRPr/>
            </a:p>
          </p:txBody>
        </p:sp>
      </p:grpSp>
      <p:grpSp>
        <p:nvGrpSpPr>
          <p:cNvPr id="35" name="Group 10">
            <a:extLst>
              <a:ext uri="{FF2B5EF4-FFF2-40B4-BE49-F238E27FC236}">
                <a16:creationId xmlns:a16="http://schemas.microsoft.com/office/drawing/2014/main" id="{4F7A098C-9EAD-B12D-C1C2-5ECD7940B919}"/>
              </a:ext>
            </a:extLst>
          </p:cNvPr>
          <p:cNvGrpSpPr/>
          <p:nvPr/>
        </p:nvGrpSpPr>
        <p:grpSpPr>
          <a:xfrm>
            <a:off x="6555121" y="10521904"/>
            <a:ext cx="3819926" cy="683196"/>
            <a:chOff x="0" y="0"/>
            <a:chExt cx="905464" cy="161943"/>
          </a:xfrm>
        </p:grpSpPr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88882CE8-10BD-EC5C-BE9C-2EEE58CAC509}"/>
                </a:ext>
              </a:extLst>
            </p:cNvPr>
            <p:cNvSpPr/>
            <p:nvPr/>
          </p:nvSpPr>
          <p:spPr>
            <a:xfrm>
              <a:off x="0" y="0"/>
              <a:ext cx="905464" cy="161943"/>
            </a:xfrm>
            <a:custGeom>
              <a:avLst/>
              <a:gdLst/>
              <a:ahLst/>
              <a:cxnLst/>
              <a:rect l="l" t="t" r="r" b="b"/>
              <a:pathLst>
                <a:path w="813710" h="161943">
                  <a:moveTo>
                    <a:pt x="80971" y="0"/>
                  </a:moveTo>
                  <a:lnTo>
                    <a:pt x="732739" y="0"/>
                  </a:lnTo>
                  <a:cubicBezTo>
                    <a:pt x="777458" y="0"/>
                    <a:pt x="813710" y="36252"/>
                    <a:pt x="813710" y="80971"/>
                  </a:cubicBezTo>
                  <a:lnTo>
                    <a:pt x="813710" y="80971"/>
                  </a:lnTo>
                  <a:cubicBezTo>
                    <a:pt x="813710" y="102446"/>
                    <a:pt x="805179" y="123042"/>
                    <a:pt x="789994" y="138227"/>
                  </a:cubicBezTo>
                  <a:cubicBezTo>
                    <a:pt x="774809" y="153412"/>
                    <a:pt x="754214" y="161943"/>
                    <a:pt x="732739" y="161943"/>
                  </a:cubicBezTo>
                  <a:lnTo>
                    <a:pt x="80971" y="161943"/>
                  </a:lnTo>
                  <a:cubicBezTo>
                    <a:pt x="59496" y="161943"/>
                    <a:pt x="38901" y="153412"/>
                    <a:pt x="23716" y="138227"/>
                  </a:cubicBezTo>
                  <a:cubicBezTo>
                    <a:pt x="8531" y="123042"/>
                    <a:pt x="0" y="102446"/>
                    <a:pt x="0" y="80971"/>
                  </a:cubicBezTo>
                  <a:lnTo>
                    <a:pt x="0" y="80971"/>
                  </a:lnTo>
                  <a:cubicBezTo>
                    <a:pt x="0" y="59496"/>
                    <a:pt x="8531" y="38901"/>
                    <a:pt x="23716" y="23716"/>
                  </a:cubicBezTo>
                  <a:cubicBezTo>
                    <a:pt x="38901" y="8531"/>
                    <a:pt x="59496" y="0"/>
                    <a:pt x="8097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B400">
                    <a:alpha val="69000"/>
                  </a:srgbClr>
                </a:gs>
                <a:gs pos="50000">
                  <a:srgbClr val="C4FF00">
                    <a:alpha val="69000"/>
                  </a:srgbClr>
                </a:gs>
                <a:gs pos="100000">
                  <a:srgbClr val="F3FFD1">
                    <a:alpha val="69000"/>
                  </a:srgbClr>
                </a:gs>
              </a:gsLst>
              <a:lin ang="2700000"/>
            </a:gradFill>
          </p:spPr>
          <p:txBody>
            <a:bodyPr numCol="1" anchor="ctr"/>
            <a:lstStyle/>
            <a:p>
              <a:pPr algn="ctr"/>
              <a:r>
                <a:rPr lang="af-ZA" sz="2400" b="1" dirty="0">
                  <a:solidFill>
                    <a:schemeClr val="bg1"/>
                  </a:solidFill>
                </a:rPr>
                <a:t>yourwebsite.com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37" name="TextBox 12">
              <a:extLst>
                <a:ext uri="{FF2B5EF4-FFF2-40B4-BE49-F238E27FC236}">
                  <a16:creationId xmlns:a16="http://schemas.microsoft.com/office/drawing/2014/main" id="{77471375-612F-6632-08A9-2A37B88262AB}"/>
                </a:ext>
              </a:extLst>
            </p:cNvPr>
            <p:cNvSpPr txBox="1"/>
            <p:nvPr/>
          </p:nvSpPr>
          <p:spPr>
            <a:xfrm>
              <a:off x="0" y="9525"/>
              <a:ext cx="813710" cy="152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52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263</Words>
  <Application>Microsoft Office PowerPoint</Application>
  <PresentationFormat>Custom</PresentationFormat>
  <Paragraphs>40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TT Norms</vt:lpstr>
      <vt:lpstr>TT Norms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Green Modern Gradient Business LinkedIn Carousel Post</dc:title>
  <cp:lastModifiedBy>Evan Fair</cp:lastModifiedBy>
  <cp:revision>2</cp:revision>
  <dcterms:created xsi:type="dcterms:W3CDTF">2006-08-16T00:00:00Z</dcterms:created>
  <dcterms:modified xsi:type="dcterms:W3CDTF">2026-06-13T02:43:47Z</dcterms:modified>
  <dc:identifier>DAHMahfBsfw</dc:identifier>
</cp:coreProperties>
</file>